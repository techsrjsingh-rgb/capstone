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8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8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274320"/>
            <a:ext cx="2011680" cy="2011680"/>
          </a:xfrm>
          <a:prstGeom prst="ellipse">
            <a:avLst/>
          </a:prstGeom>
          <a:solidFill>
            <a:srgbClr val="051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149840" y="548640"/>
            <a:ext cx="1463040" cy="1463040"/>
          </a:xfrm>
          <a:prstGeom prst="ellipse">
            <a:avLst/>
          </a:prstGeom>
          <a:solidFill>
            <a:srgbClr val="004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C2FF"/>
                </a:solidFill>
              </a:rPr>
              <a:t>CAPSTONE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Fraud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00C2FF"/>
                </a:solidFill>
              </a:rPr>
              <a:t>AI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BEC5"/>
                </a:solidFill>
              </a:rPr>
              <a:t>A Multi-Agent System for Real-Time Banking Fraud Classification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4023360"/>
            <a:ext cx="457200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Built with  Anthropic Claude API  ·  Python  ·  Streamlit  ·  FastMCP</a:t>
            </a:r>
          </a:p>
          <a:p>
            <a:pPr algn="l"/>
            <a:r>
              <a:rPr sz="1200" b="0">
                <a:solidFill>
                  <a:srgbClr val="556B82"/>
                </a:solidFill>
              </a:rPr>
              <a:t>June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B82"/>
                </a:solidFill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13232"/>
            <a:ext cx="12188952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What We Will Cover Today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252728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344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Business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9047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Why fraud detection needs AI</a:t>
            </a:r>
          </a:p>
        </p:txBody>
      </p:sp>
      <p:sp>
        <p:nvSpPr>
          <p:cNvPr id="8" name="Oval 7"/>
          <p:cNvSpPr/>
          <p:nvPr/>
        </p:nvSpPr>
        <p:spPr>
          <a:xfrm>
            <a:off x="411480" y="1911096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9280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Solution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What we built and how it works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2569464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5117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0720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4-agent pipeline design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" y="3227832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20954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Fraud Rules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46557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Deterministic Python rules</a:t>
            </a:r>
          </a:p>
        </p:txBody>
      </p:sp>
      <p:sp>
        <p:nvSpPr>
          <p:cNvPr id="17" name="Oval 16"/>
          <p:cNvSpPr/>
          <p:nvPr/>
        </p:nvSpPr>
        <p:spPr>
          <a:xfrm>
            <a:off x="411480" y="3886200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679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AI Agent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12394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Sonnet · Opus · Extended Thinking</a:t>
            </a:r>
          </a:p>
        </p:txBody>
      </p:sp>
      <p:sp>
        <p:nvSpPr>
          <p:cNvPr id="20" name="Oval 19"/>
          <p:cNvSpPr/>
          <p:nvPr/>
        </p:nvSpPr>
        <p:spPr>
          <a:xfrm>
            <a:off x="411480" y="4544567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52627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MCP &amp; Tool-Use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7823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3 FastMCP servers + tool schemas</a:t>
            </a:r>
          </a:p>
        </p:txBody>
      </p:sp>
      <p:sp>
        <p:nvSpPr>
          <p:cNvPr id="23" name="Oval 22"/>
          <p:cNvSpPr/>
          <p:nvPr/>
        </p:nvSpPr>
        <p:spPr>
          <a:xfrm>
            <a:off x="411480" y="5202936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846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Hooks &amp; Governance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406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Middleware, audit, compliance</a:t>
            </a:r>
          </a:p>
        </p:txBody>
      </p:sp>
      <p:sp>
        <p:nvSpPr>
          <p:cNvPr id="26" name="Oval 25"/>
          <p:cNvSpPr/>
          <p:nvPr/>
        </p:nvSpPr>
        <p:spPr>
          <a:xfrm>
            <a:off x="411480" y="5861304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84301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Observability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09904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Correlation IDs, OTEL, metrics</a:t>
            </a:r>
          </a:p>
        </p:txBody>
      </p:sp>
      <p:sp>
        <p:nvSpPr>
          <p:cNvPr id="29" name="Oval 28"/>
          <p:cNvSpPr/>
          <p:nvPr/>
        </p:nvSpPr>
        <p:spPr>
          <a:xfrm>
            <a:off x="6309360" y="1252728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80" y="12344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Dashboard 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149047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Streamlit UI walkthrough</a:t>
            </a:r>
          </a:p>
        </p:txBody>
      </p:sp>
      <p:sp>
        <p:nvSpPr>
          <p:cNvPr id="32" name="Oval 31"/>
          <p:cNvSpPr/>
          <p:nvPr/>
        </p:nvSpPr>
        <p:spPr>
          <a:xfrm>
            <a:off x="6309360" y="1911096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189280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Testing &amp; Evaluation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1488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79 tests · 100 % pass rate</a:t>
            </a:r>
          </a:p>
        </p:txBody>
      </p:sp>
      <p:sp>
        <p:nvSpPr>
          <p:cNvPr id="35" name="Oval 34"/>
          <p:cNvSpPr/>
          <p:nvPr/>
        </p:nvSpPr>
        <p:spPr>
          <a:xfrm>
            <a:off x="6309360" y="2569464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2280" y="255117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Load Testing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280720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Performance &amp; throughput</a:t>
            </a:r>
          </a:p>
        </p:txBody>
      </p:sp>
      <p:sp>
        <p:nvSpPr>
          <p:cNvPr id="38" name="Oval 37"/>
          <p:cNvSpPr/>
          <p:nvPr/>
        </p:nvSpPr>
        <p:spPr>
          <a:xfrm>
            <a:off x="6309360" y="3227832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320954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Design Decisions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346557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Why we chose this approach</a:t>
            </a:r>
          </a:p>
        </p:txBody>
      </p:sp>
      <p:sp>
        <p:nvSpPr>
          <p:cNvPr id="41" name="Oval 40"/>
          <p:cNvSpPr/>
          <p:nvPr/>
        </p:nvSpPr>
        <p:spPr>
          <a:xfrm>
            <a:off x="6309360" y="3886200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12280" y="38679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Business Impact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412394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Quantitative &amp; qualitative value</a:t>
            </a:r>
          </a:p>
        </p:txBody>
      </p:sp>
      <p:sp>
        <p:nvSpPr>
          <p:cNvPr id="44" name="Oval 43"/>
          <p:cNvSpPr/>
          <p:nvPr/>
        </p:nvSpPr>
        <p:spPr>
          <a:xfrm>
            <a:off x="6309360" y="4544567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2280" y="452627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Lessons Learned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12280" y="47823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Key takeaways</a:t>
            </a:r>
          </a:p>
        </p:txBody>
      </p:sp>
      <p:sp>
        <p:nvSpPr>
          <p:cNvPr id="47" name="Oval 46"/>
          <p:cNvSpPr/>
          <p:nvPr/>
        </p:nvSpPr>
        <p:spPr>
          <a:xfrm>
            <a:off x="6309360" y="5202936"/>
            <a:ext cx="384048" cy="38404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12280" y="51846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Thank You &amp; Q&amp;A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B82"/>
                </a:solidFill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BUSINESS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Why Banking Fraud Needs an AI-Powered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2651760" cy="1645920"/>
          </a:xfrm>
          <a:prstGeom prst="rect">
            <a:avLst/>
          </a:prstGeom>
          <a:solidFill>
            <a:srgbClr val="112740"/>
          </a:solidFill>
          <a:ln w="25400">
            <a:solidFill>
              <a:srgbClr val="00C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C2FF"/>
                </a:solidFill>
              </a:rPr>
              <a:t>$485B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93392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EC5"/>
                </a:solidFill>
              </a:rPr>
              <a:t>Annual global fraud losses
(2023 estimate)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143000"/>
            <a:ext cx="2651760" cy="1645920"/>
          </a:xfrm>
          <a:prstGeom prst="rect">
            <a:avLst/>
          </a:prstGeom>
          <a:solidFill>
            <a:srgbClr val="112740"/>
          </a:solidFill>
          <a:ln w="254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3258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B800"/>
                </a:solidFill>
              </a:rPr>
              <a:t>~1%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993392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EC5"/>
                </a:solidFill>
              </a:rPr>
              <a:t>Transactions reviewed
manually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143000"/>
            <a:ext cx="2651760" cy="1645920"/>
          </a:xfrm>
          <a:prstGeom prst="rect">
            <a:avLst/>
          </a:prstGeom>
          <a:solidFill>
            <a:srgbClr val="112740"/>
          </a:solidFill>
          <a:ln w="2540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3B30"/>
                </a:solidFill>
              </a:rPr>
              <a:t>14 hrs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993392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EC5"/>
                </a:solidFill>
              </a:rPr>
              <a:t>Avg. time to detect
fraud after incident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9720" y="1143000"/>
            <a:ext cx="2651760" cy="1645920"/>
          </a:xfrm>
          <a:prstGeom prst="rect">
            <a:avLst/>
          </a:prstGeom>
          <a:solidFill>
            <a:srgbClr val="112740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3258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7C3AED"/>
                </a:solidFill>
              </a:rPr>
              <a:t>97%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1993392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EC5"/>
                </a:solidFill>
              </a:rPr>
              <a:t>False positive rate with
legacy rule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017520"/>
            <a:ext cx="11338560" cy="1188720"/>
          </a:xfrm>
          <a:prstGeom prst="rect">
            <a:avLst/>
          </a:prstGeom>
          <a:solidFill>
            <a:srgbClr val="1A0A3A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1272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3AED"/>
                </a:solidFill>
              </a:rPr>
              <a:t>The Gap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4930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Legacy rule systems  →  Too rigid, high false positives, miss novel patterns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ML black boxes  →  Opaque, hard to audit, fail regulatory explainability requirements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B0BEC5"/>
                </a:solidFill>
              </a:rPr>
              <a:t>Manual review  →  Cannot scale to millions of daily transactions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3434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We need a system that is  FAST  +  EXPLAINABLE  +  ACCURATE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B82"/>
                </a:solidFill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SOLUTION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Fraud Detection AI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5120640"/>
          </a:xfrm>
          <a:prstGeom prst="rect">
            <a:avLst/>
          </a:prstGeom>
          <a:solidFill>
            <a:srgbClr val="11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FF"/>
                </a:solidFill>
              </a:rPr>
              <a:t>What It Does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1097280" cy="4754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792224"/>
            <a:ext cx="10607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&lt; 10 sec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8288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EC5"/>
                </a:solidFill>
              </a:rPr>
              <a:t>Analyzes any transaction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1097280" cy="4754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78024"/>
            <a:ext cx="10607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0 –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25146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EC5"/>
                </a:solidFill>
              </a:rPr>
              <a:t>Numeric risk 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108960"/>
            <a:ext cx="1097280" cy="4754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163824"/>
            <a:ext cx="10607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3 verdicts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2004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EC5"/>
                </a:solidFill>
              </a:rPr>
              <a:t>Safe · Suspicious · High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794760"/>
            <a:ext cx="1097280" cy="4754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49624"/>
            <a:ext cx="10607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Plain 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8862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EC5"/>
                </a:solidFill>
              </a:rPr>
              <a:t>Every decision explained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480560"/>
            <a:ext cx="1097280" cy="4754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535424"/>
            <a:ext cx="10607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JSONL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720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EC5"/>
                </a:solidFill>
              </a:rPr>
              <a:t>All decisions auditable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166360"/>
            <a:ext cx="1097280" cy="4754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221224"/>
            <a:ext cx="10607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Self-heals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2578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EC5"/>
                </a:solidFill>
              </a:rPr>
              <a:t>Retries on API failure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1097280"/>
            <a:ext cx="5577840" cy="5120640"/>
          </a:xfrm>
          <a:prstGeom prst="rect">
            <a:avLst/>
          </a:prstGeom>
          <a:solidFill>
            <a:srgbClr val="11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2344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FF"/>
                </a:solidFill>
              </a:rPr>
              <a:t>Tech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7373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LLM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17373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Anthropic Claude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231136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Models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23113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claude-opus-4-8  +  claude-sonnet-4-6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24912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Extended Think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272491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5,000 thinking tokens (RiskScorer)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21868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UI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321868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Streamlit + Plotly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12464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MCP Servers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371246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3× FastMCP (ports 8002-8004)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2062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Observability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2062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OpenTelemetry + Correlation IDs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700016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Language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470001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Python 3.14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193792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Tests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51937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pytest + pytest-asyncio  (79 tests)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875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Load Tests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6760" y="56875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Locust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B82"/>
                </a:solidFill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4-Agent Pipeline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79476" y="1280160"/>
            <a:ext cx="1737360" cy="1417320"/>
          </a:xfrm>
          <a:prstGeom prst="rect">
            <a:avLst/>
          </a:prstGeom>
          <a:solidFill>
            <a:srgbClr val="222A3F"/>
          </a:solidFill>
          <a:ln w="25400">
            <a:solidFill>
              <a:srgbClr val="B0BE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" y="1389888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0BEC5"/>
                </a:solidFill>
              </a:rPr>
              <a:t>Streamlit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" y="1828800"/>
            <a:ext cx="159105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EC5"/>
                </a:solidFill>
              </a:rPr>
              <a:t>frontend/app.py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3412" y="178308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C2FF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318004" y="1280160"/>
            <a:ext cx="1737360" cy="1417320"/>
          </a:xfrm>
          <a:prstGeom prst="rect">
            <a:avLst/>
          </a:prstGeom>
          <a:solidFill>
            <a:srgbClr val="222A3F"/>
          </a:solidFill>
          <a:ln w="25400">
            <a:solidFill>
              <a:srgbClr val="B0BE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91156" y="1389888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0BEC5"/>
                </a:solidFill>
              </a:rPr>
              <a:t>Hooks Middleware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1156" y="1828800"/>
            <a:ext cx="159105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EC5"/>
                </a:solidFill>
              </a:rPr>
              <a:t>pre_process / post_process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1940" y="178308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C2FF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6532" y="1280160"/>
            <a:ext cx="1737360" cy="1417320"/>
          </a:xfrm>
          <a:prstGeom prst="rect">
            <a:avLst/>
          </a:prstGeom>
          <a:solidFill>
            <a:srgbClr val="004422"/>
          </a:solidFill>
          <a:ln w="254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9684" y="1389888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E096"/>
                </a:solidFill>
              </a:rPr>
              <a:t>Rules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9684" y="1828800"/>
            <a:ext cx="159105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EC5"/>
                </a:solidFill>
              </a:rPr>
              <a:t>Pure Python · no 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0468" y="178308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C2FF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5060" y="1280160"/>
            <a:ext cx="1737360" cy="1417320"/>
          </a:xfrm>
          <a:prstGeom prst="rect">
            <a:avLst/>
          </a:prstGeom>
          <a:solidFill>
            <a:srgbClr val="002A55"/>
          </a:solidFill>
          <a:ln w="25400">
            <a:solidFill>
              <a:srgbClr val="00C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8212" y="1389888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C2FF"/>
                </a:solidFill>
              </a:rPr>
              <a:t>Pattern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8212" y="1828800"/>
            <a:ext cx="159105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EC5"/>
                </a:solidFill>
              </a:rPr>
              <a:t>claude-sonnet-4-6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8996" y="178308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C2FF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3588" y="1280160"/>
            <a:ext cx="1737360" cy="1417320"/>
          </a:xfrm>
          <a:prstGeom prst="rect">
            <a:avLst/>
          </a:prstGeom>
          <a:solidFill>
            <a:srgbClr val="301155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06740" y="1389888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7C3AED"/>
                </a:solidFill>
              </a:rPr>
              <a:t>Risk Scorer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6740" y="1828800"/>
            <a:ext cx="159105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EC5"/>
                </a:solidFill>
              </a:rPr>
              <a:t>claude-opus-4-8
+ Extended Thinking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7524" y="178308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C2FF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72116" y="1280160"/>
            <a:ext cx="1737360" cy="1417320"/>
          </a:xfrm>
          <a:prstGeom prst="rect">
            <a:avLst/>
          </a:prstGeom>
          <a:solidFill>
            <a:srgbClr val="441100"/>
          </a:solidFill>
          <a:ln w="2540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5268" y="1389888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3B30"/>
                </a:solidFill>
              </a:rPr>
              <a:t>Coordinator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5268" y="1828800"/>
            <a:ext cx="159105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BEC5"/>
                </a:solidFill>
              </a:rPr>
              <a:t>claude-opus-4-8
Final Verdict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017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0BEC5"/>
                </a:solidFill>
              </a:rPr>
              <a:t>Output: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7360" y="2971800"/>
            <a:ext cx="1920240" cy="457200"/>
          </a:xfrm>
          <a:prstGeom prst="rect">
            <a:avLst/>
          </a:prstGeom>
          <a:solidFill>
            <a:srgbClr val="112740"/>
          </a:solidFill>
          <a:ln w="254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00" y="303580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E096"/>
                </a:solidFill>
              </a:rPr>
              <a:t>✅  Safe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971800"/>
            <a:ext cx="1920240" cy="457200"/>
          </a:xfrm>
          <a:prstGeom prst="rect">
            <a:avLst/>
          </a:prstGeom>
          <a:solidFill>
            <a:srgbClr val="112740"/>
          </a:solidFill>
          <a:ln w="254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303580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B800"/>
                </a:solidFill>
              </a:rPr>
              <a:t>⚠️  Suspicious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2971800"/>
            <a:ext cx="1920240" cy="457200"/>
          </a:xfrm>
          <a:prstGeom prst="rect">
            <a:avLst/>
          </a:prstGeom>
          <a:solidFill>
            <a:srgbClr val="112740"/>
          </a:solidFill>
          <a:ln w="2540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03580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3B30"/>
                </a:solidFill>
              </a:rPr>
              <a:t>🚨  High Risk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0BEC5"/>
                </a:solidFill>
              </a:rPr>
              <a:t>Supporting Services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114800"/>
            <a:ext cx="1783080" cy="777240"/>
          </a:xfrm>
          <a:prstGeom prst="rect">
            <a:avLst/>
          </a:prstGeom>
          <a:solidFill>
            <a:srgbClr val="112740"/>
          </a:solidFill>
          <a:ln w="19050">
            <a:solidFill>
              <a:srgbClr val="00C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4187952"/>
            <a:ext cx="1645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C2FF"/>
                </a:solidFill>
              </a:rPr>
              <a:t>MCP Server Fraud
port 8002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114800"/>
            <a:ext cx="1783080" cy="777240"/>
          </a:xfrm>
          <a:prstGeom prst="rect">
            <a:avLst/>
          </a:prstGeom>
          <a:solidFill>
            <a:srgbClr val="112740"/>
          </a:solidFill>
          <a:ln w="19050">
            <a:solidFill>
              <a:srgbClr val="00C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04872" y="4187952"/>
            <a:ext cx="1645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C2FF"/>
                </a:solidFill>
              </a:rPr>
              <a:t>MCP Server Geo
port 8003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0" y="4114800"/>
            <a:ext cx="1783080" cy="777240"/>
          </a:xfrm>
          <a:prstGeom prst="rect">
            <a:avLst/>
          </a:prstGeom>
          <a:solidFill>
            <a:srgbClr val="112740"/>
          </a:solidFill>
          <a:ln w="19050">
            <a:solidFill>
              <a:srgbClr val="00C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70832" y="4187952"/>
            <a:ext cx="1645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C2FF"/>
                </a:solidFill>
              </a:rPr>
              <a:t>MCP Orchestrator
port 8004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4114800"/>
            <a:ext cx="1783080" cy="777240"/>
          </a:xfrm>
          <a:prstGeom prst="rect">
            <a:avLst/>
          </a:prstGeom>
          <a:solidFill>
            <a:srgbClr val="112740"/>
          </a:solidFill>
          <a:ln w="1905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36792" y="4187952"/>
            <a:ext cx="1645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E096"/>
                </a:solidFill>
              </a:rPr>
              <a:t>Audit Log
audit.jsonl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0" y="4114800"/>
            <a:ext cx="1783080" cy="777240"/>
          </a:xfrm>
          <a:prstGeom prst="rect">
            <a:avLst/>
          </a:prstGeom>
          <a:solidFill>
            <a:srgbClr val="112740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02752" y="4187952"/>
            <a:ext cx="1645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C3AED"/>
                </a:solidFill>
              </a:rPr>
              <a:t>Observability
OTEL + Metrics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95560" y="4114800"/>
            <a:ext cx="1783080" cy="777240"/>
          </a:xfrm>
          <a:prstGeom prst="rect">
            <a:avLst/>
          </a:prstGeom>
          <a:solidFill>
            <a:srgbClr val="112740"/>
          </a:solidFill>
          <a:ln w="19050">
            <a:solidFill>
              <a:srgbClr val="556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268712" y="4187952"/>
            <a:ext cx="1645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6B82"/>
                </a:solidFill>
              </a:rPr>
              <a:t>RAG Retriever
TF-IDF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B82"/>
                </a:solidFill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FRAUD RULES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4 Deterministic Rules — Pure Python, Zero API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30000" cy="1170432"/>
          </a:xfrm>
          <a:prstGeom prst="rect">
            <a:avLst/>
          </a:prstGeom>
          <a:solidFill>
            <a:srgbClr val="112740"/>
          </a:solidFill>
          <a:ln w="25400">
            <a:solidFill>
              <a:srgbClr val="00C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1490472"/>
            <a:ext cx="493776" cy="493776"/>
          </a:xfrm>
          <a:prstGeom prst="ellipse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0D1B2A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21615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FF"/>
                </a:solidFill>
              </a:rPr>
              <a:t>High Amount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184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EC5"/>
                </a:solidFill>
              </a:rPr>
              <a:t>≥ ₹1,00,000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1371600"/>
            <a:ext cx="5943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Transaction amount exceeds the high-value threshold set by RBI guidelines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49840" y="1417320"/>
            <a:ext cx="1463040" cy="4572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95560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</a:rPr>
              <a:t>35 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441448"/>
            <a:ext cx="11430000" cy="1170432"/>
          </a:xfrm>
          <a:prstGeom prst="rect">
            <a:avLst/>
          </a:prstGeom>
          <a:solidFill>
            <a:srgbClr val="112740"/>
          </a:solidFill>
          <a:ln w="254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2920" y="2788920"/>
            <a:ext cx="493776" cy="493776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0D1B2A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5146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B800"/>
                </a:solidFill>
              </a:rPr>
              <a:t>Unusual Location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91693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EC5"/>
                </a:solidFill>
              </a:rPr>
              <a:t>Fraud hotspot 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0048"/>
            <a:ext cx="5943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Location matches known fraud hotspots e.g. Lagos, Panama, Cayman Islands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49840" y="2715768"/>
            <a:ext cx="1463040" cy="4572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95560" y="276148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</a:rPr>
              <a:t>30 pts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39896"/>
            <a:ext cx="11430000" cy="1170432"/>
          </a:xfrm>
          <a:prstGeom prst="rect">
            <a:avLst/>
          </a:prstGeom>
          <a:solidFill>
            <a:srgbClr val="112740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920" y="4087368"/>
            <a:ext cx="493776" cy="49377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0D1B2A"/>
                </a:solidFill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81304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7C3AED"/>
                </a:solidFill>
              </a:rPr>
              <a:t>Rapid Succession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215383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EC5"/>
                </a:solidFill>
              </a:rPr>
              <a:t>3+ txns in 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968496"/>
            <a:ext cx="5943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Same customer makes ≥3 transactions within a 300-second window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0" y="4014215"/>
            <a:ext cx="1463040" cy="457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5560" y="4059935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</a:rPr>
              <a:t>25 pts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038344"/>
            <a:ext cx="11430000" cy="1170432"/>
          </a:xfrm>
          <a:prstGeom prst="rect">
            <a:avLst/>
          </a:prstGeom>
          <a:solidFill>
            <a:srgbClr val="112740"/>
          </a:solidFill>
          <a:ln w="2540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2920" y="5385816"/>
            <a:ext cx="493776" cy="493776"/>
          </a:xfrm>
          <a:prstGeom prst="ellipse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0D1B2A"/>
                </a:solidFill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11149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3B30"/>
                </a:solidFill>
              </a:rPr>
              <a:t>International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513831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EC5"/>
                </a:solidFill>
              </a:rPr>
              <a:t>Outside India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0" y="5266944"/>
            <a:ext cx="5943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Transaction originates from a location outside India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49840" y="5312664"/>
            <a:ext cx="1463040" cy="45720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95560" y="5358383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</a:rPr>
              <a:t>15 pts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6400800"/>
            <a:ext cx="11430000" cy="347472"/>
          </a:xfrm>
          <a:prstGeom prst="rect">
            <a:avLst/>
          </a:prstGeom>
          <a:solidFill>
            <a:srgbClr val="08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41908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Aggregation:   0 rules → Safe     1 rule → Suspicious     2+ rules → High Risk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B82"/>
                </a:solidFill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AI AGENT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Four Specialist Agents — Each with One Job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43000"/>
            <a:ext cx="2743200" cy="5257800"/>
          </a:xfrm>
          <a:prstGeom prst="rect">
            <a:avLst/>
          </a:prstGeom>
          <a:solidFill>
            <a:srgbClr val="112740"/>
          </a:solidFill>
          <a:ln w="254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2743200" cy="548640"/>
          </a:xfrm>
          <a:prstGeom prst="rect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Rules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83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core/rules.py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148840"/>
            <a:ext cx="1554480" cy="347472"/>
          </a:xfrm>
          <a:prstGeom prst="rect">
            <a:avLst/>
          </a:prstGeom>
          <a:solidFill>
            <a:srgbClr val="08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7627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E096"/>
                </a:solidFill>
              </a:rPr>
              <a:t>Pure Python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6334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Zero API cost — instant 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136391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4 deterministic fraud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63931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Boundary-tested (33 unit tests)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14223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Powers both UI modes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5808" y="342900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C2FF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6120" y="1143000"/>
            <a:ext cx="2743200" cy="5257800"/>
          </a:xfrm>
          <a:prstGeom prst="rect">
            <a:avLst/>
          </a:prstGeom>
          <a:solidFill>
            <a:srgbClr val="112740"/>
          </a:solidFill>
          <a:ln w="25400">
            <a:solidFill>
              <a:srgbClr val="00C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46120" y="1143000"/>
            <a:ext cx="2743200" cy="5486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7560" y="1188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Pattern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1783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claude-sonnet-4-6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0" y="2148840"/>
            <a:ext cx="1554480" cy="347472"/>
          </a:xfrm>
          <a:prstGeom prst="rect">
            <a:avLst/>
          </a:prstGeom>
          <a:solidFill>
            <a:srgbClr val="08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0" y="217627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C2FF"/>
                </a:solidFill>
              </a:rPr>
              <a:t>Behavioral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7560" y="26334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Interprets transaction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3136391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Asks: is this unusual for this customer?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363931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Matches known fraud patterns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414223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Concise ≤3 sentence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7608" y="342900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C2FF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1143000"/>
            <a:ext cx="2743200" cy="5257800"/>
          </a:xfrm>
          <a:prstGeom prst="rect">
            <a:avLst/>
          </a:prstGeom>
          <a:solidFill>
            <a:srgbClr val="112740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1143000"/>
            <a:ext cx="274320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59" y="1188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Risk Scorer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1783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claude-opus-4-8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12280" y="2148840"/>
            <a:ext cx="1554480" cy="347472"/>
          </a:xfrm>
          <a:prstGeom prst="rect">
            <a:avLst/>
          </a:prstGeom>
          <a:solidFill>
            <a:srgbClr val="08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217627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C3AED"/>
                </a:solidFill>
              </a:rPr>
              <a:t>Extended Think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59" y="26334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5,000-token thinking budget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59" y="3136391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Calls calculate_fraud_score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59" y="363931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Returns precise 0–100 numeric score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414223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Shows internal chain-of-thought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79408" y="342900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C2FF"/>
                </a:solidFill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89720" y="1143000"/>
            <a:ext cx="2743200" cy="5257800"/>
          </a:xfrm>
          <a:prstGeom prst="rect">
            <a:avLst/>
          </a:prstGeom>
          <a:solidFill>
            <a:srgbClr val="112740"/>
          </a:solidFill>
          <a:ln w="2540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89720" y="1143000"/>
            <a:ext cx="2743200" cy="54864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81160" y="1188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Coordinator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81160" y="1783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claude-opus-4-8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84080" y="2148840"/>
            <a:ext cx="1554480" cy="347472"/>
          </a:xfrm>
          <a:prstGeom prst="rect">
            <a:avLst/>
          </a:prstGeom>
          <a:solidFill>
            <a:srgbClr val="08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84080" y="217627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3B30"/>
                </a:solidFill>
              </a:rPr>
              <a:t>Synthesizer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81160" y="26334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Calls generate_fraud_report tool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1160" y="3136391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Synthesizes all 3 agent outputs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81160" y="363931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Final Safe/Suspicious/High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81160" y="414223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Recommended action + explanation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6446520"/>
            <a:ext cx="11612880" cy="320040"/>
          </a:xfrm>
          <a:prstGeom prst="rect">
            <a:avLst/>
          </a:prstGeom>
          <a:solidFill>
            <a:srgbClr val="08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46480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Self-Healing:  3 retries with exponential backoff (1s → 2s → 4s)  ·  Fallback from Opus → Sonnet on rate-limit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B82"/>
                </a:solidFill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MCP &amp; TOOL-USE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Model Context Protocol + Structured Tool-Use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5669280" cy="5394960"/>
          </a:xfrm>
          <a:prstGeom prst="rect">
            <a:avLst/>
          </a:prstGeom>
          <a:solidFill>
            <a:srgbClr val="11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2FF"/>
                </a:solidFill>
              </a:rPr>
              <a:t>3 Independent FastMCP Servers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64208"/>
            <a:ext cx="5394960" cy="2743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8249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</a:rPr>
              <a:t>mcp_server_fraud.py   (port 8002)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8424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    • get_transaction_history(customer_id)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2768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    • get_fraud_blacklist()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6946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    • report_fraud_transaction(txn_id)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6207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    • get_fraud_statistics()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73551"/>
            <a:ext cx="5394960" cy="274320"/>
          </a:xfrm>
          <a:prstGeom prst="rect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91839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</a:rPr>
              <a:t>mcp_server_geo.py   (port 8003)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593591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    • get_country_risk_score(location)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886199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    • check_ip_location(ip)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178807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    • get_high_risk_regions()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47141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    • verify_domestic_location(loc)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82896"/>
            <a:ext cx="5394960" cy="274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901183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</a:rPr>
              <a:t>mcp_server_orchestrator.py   (port 8004)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20293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    • Full 4-agent pipeline exposed via 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49554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    • Enables external system integration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097280"/>
            <a:ext cx="5577840" cy="5394960"/>
          </a:xfrm>
          <a:prstGeom prst="rect">
            <a:avLst/>
          </a:prstGeom>
          <a:solidFill>
            <a:srgbClr val="11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120700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2FF"/>
                </a:solidFill>
              </a:rPr>
              <a:t>4 Claude Tool Schemas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1691640"/>
            <a:ext cx="5303520" cy="914400"/>
          </a:xfrm>
          <a:prstGeom prst="rect">
            <a:avLst/>
          </a:prstGeom>
          <a:solidFill>
            <a:srgbClr val="081422"/>
          </a:solidFill>
          <a:ln w="19050">
            <a:solidFill>
              <a:srgbClr val="00C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1746504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2FF"/>
                </a:solidFill>
              </a:rPr>
              <a:t>analyze_transaction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213055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Trigger all 4 fraud rules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807208"/>
            <a:ext cx="5303520" cy="914400"/>
          </a:xfrm>
          <a:prstGeom prst="rect">
            <a:avLst/>
          </a:prstGeom>
          <a:solidFill>
            <a:srgbClr val="081422"/>
          </a:solidFill>
          <a:ln w="1905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2862072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096"/>
                </a:solidFill>
              </a:rPr>
              <a:t>check_customer_history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0528" y="32461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Behavioral context lookup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922776"/>
            <a:ext cx="5303520" cy="914400"/>
          </a:xfrm>
          <a:prstGeom prst="rect">
            <a:avLst/>
          </a:prstGeom>
          <a:solidFill>
            <a:srgbClr val="081422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977639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calculate_fraud_score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0528" y="43616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Return numeric 0–100 score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5038344"/>
            <a:ext cx="5303520" cy="914400"/>
          </a:xfrm>
          <a:prstGeom prst="rect">
            <a:avLst/>
          </a:prstGeom>
          <a:solidFill>
            <a:srgbClr val="081422"/>
          </a:solidFill>
          <a:ln w="1905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5093207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3B30"/>
                </a:solidFill>
              </a:rPr>
              <a:t>generate_fraud_report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0528" y="547725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Final structured verdict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B82"/>
                </a:solidFill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HOOKS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Enterprise-Grade Middleware &amp; Compliance Controls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5394960" cy="5394960"/>
          </a:xfrm>
          <a:prstGeom prst="rect">
            <a:avLst/>
          </a:prstGeom>
          <a:solidFill>
            <a:srgbClr val="11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2FF"/>
                </a:solidFill>
              </a:rPr>
              <a:t>FraudHookManager  (core/hooks.py)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5120640" cy="310896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0992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pre_process()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7568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✔ Input validation (fields + types)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682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✔ Rate limiting (token bucket 20/min)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60903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✔ String sanitization &amp; normalization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1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✔ Correlation ID generation (UUID-v4)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37559"/>
            <a:ext cx="5120640" cy="310896"/>
          </a:xfrm>
          <a:prstGeom prst="rect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35584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post_process()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21607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✔ Compliance check (valid decision + reason)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014215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✔ Fairness flag (location-only High Risk)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306823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✔ Audit log append (append-only JSONL)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99431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✔ Metrics increment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983479"/>
            <a:ext cx="5120640" cy="310896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00176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on_error()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67527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✔ Returns 'Suspicious' — never crashes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6013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✔ Logs exception to audit trail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527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✔ Preserves correlation ID in fallback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1097280"/>
            <a:ext cx="5897880" cy="5394960"/>
          </a:xfrm>
          <a:prstGeom prst="rect">
            <a:avLst/>
          </a:prstGeom>
          <a:solidFill>
            <a:srgbClr val="11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0" y="120700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2FF"/>
                </a:solidFill>
              </a:rPr>
              <a:t>GovernanceManager  (core/governance.py)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1719072"/>
            <a:ext cx="5623560" cy="768096"/>
          </a:xfrm>
          <a:prstGeom prst="rect">
            <a:avLst/>
          </a:prstGeom>
          <a:solidFill>
            <a:srgbClr val="081422"/>
          </a:solidFill>
          <a:ln w="19050">
            <a:solidFill>
              <a:srgbClr val="00C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175564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2FF"/>
                </a:solidFill>
              </a:rPr>
              <a:t>Input 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048255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Required fields · Type checks · Enum validation
Negative amount rejection · Empty ID rejection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633472"/>
            <a:ext cx="5623560" cy="768096"/>
          </a:xfrm>
          <a:prstGeom prst="rect">
            <a:avLst/>
          </a:prstGeom>
          <a:solidFill>
            <a:srgbClr val="081422"/>
          </a:solidFill>
          <a:ln w="1905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267004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800"/>
                </a:solidFill>
              </a:rPr>
              <a:t>Rate Limiting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296265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Token bucket algorithm · 20 req / 60 sec
Prevents API abuse and runaway Streamlit loops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3547872"/>
            <a:ext cx="5623560" cy="768096"/>
          </a:xfrm>
          <a:prstGeom prst="rect">
            <a:avLst/>
          </a:prstGeom>
          <a:solidFill>
            <a:srgbClr val="081422"/>
          </a:solidFill>
          <a:ln w="1905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358444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E096"/>
                </a:solidFill>
              </a:rPr>
              <a:t>Compliance Check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87705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Decision must be Safe / Suspicious / High Risk
Reasoning must be ≥ 15 characters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6480" y="4462272"/>
            <a:ext cx="5623560" cy="768096"/>
          </a:xfrm>
          <a:prstGeom prst="rect">
            <a:avLst/>
          </a:prstGeom>
          <a:solidFill>
            <a:srgbClr val="081422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449884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</a:rPr>
              <a:t>Fairness Check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79145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Flags location-only High Risk decisions
Human reviewer notified — decision not overridden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6480" y="5376672"/>
            <a:ext cx="5623560" cy="768096"/>
          </a:xfrm>
          <a:prstGeom prst="rect">
            <a:avLst/>
          </a:prstGeom>
          <a:solidFill>
            <a:srgbClr val="081422"/>
          </a:solidFill>
          <a:ln w="1905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3640" y="541324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3B30"/>
                </a:solidFill>
              </a:rPr>
              <a:t>Audit Logging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570585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EC5"/>
                </a:solidFill>
              </a:rPr>
              <a:t>Append-only audit.jsonl · One event per line
Timestamp · Correlation ID · Agent · Action · Data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B82"/>
                </a:solidFill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End-to-End Traceability for Every Transaction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5577840" cy="1627632"/>
          </a:xfrm>
          <a:prstGeom prst="rect">
            <a:avLst/>
          </a:prstGeom>
          <a:solidFill>
            <a:srgbClr val="112740"/>
          </a:solidFill>
          <a:ln w="25400">
            <a:solidFill>
              <a:srgbClr val="00C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" y="12344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2FF"/>
                </a:solidFill>
              </a:rPr>
              <a:t>Correlation IDs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" y="164592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UUID-v4 generated per request in pre_process()
All 4 agent calls share the same ID
Full trace retrievable via get_audit_trail(cid)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59" y="1143000"/>
            <a:ext cx="5577840" cy="1627632"/>
          </a:xfrm>
          <a:prstGeom prst="rect">
            <a:avLst/>
          </a:prstGeom>
          <a:solidFill>
            <a:srgbClr val="112740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1" y="12344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3AED"/>
                </a:solidFill>
              </a:rPr>
              <a:t>Agent Traces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1" y="164592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Agent name · Input summary · Output summary
Duration in milliseconds · UTC timestamp
Stored in-memory, shown in Streamlit dashboard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971800"/>
            <a:ext cx="5577840" cy="1627632"/>
          </a:xfrm>
          <a:prstGeom prst="rect">
            <a:avLst/>
          </a:prstGeom>
          <a:solidFill>
            <a:srgbClr val="112740"/>
          </a:solidFill>
          <a:ln w="254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30632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E096"/>
                </a:solidFill>
              </a:rPr>
              <a:t>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347472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fraud_classification  (count per risk level)
risk_score  (per transaction, 0–100)
agent_error  (error rate counter)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59" y="2971800"/>
            <a:ext cx="5577840" cy="1627632"/>
          </a:xfrm>
          <a:prstGeom prst="rect">
            <a:avLst/>
          </a:prstGeom>
          <a:solidFill>
            <a:srgbClr val="112740"/>
          </a:solidFill>
          <a:ln w="254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1" y="30632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800"/>
                </a:solidFill>
              </a:rPr>
              <a:t>OpenTelemetry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1" y="347472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Optional OTEL integration (graceful fallback)
Distributed tracing spans per agent call
Exported to any OTEL-compatible backend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800600"/>
            <a:ext cx="5577840" cy="1627632"/>
          </a:xfrm>
          <a:prstGeom prst="rect">
            <a:avLst/>
          </a:prstGeom>
          <a:solidFill>
            <a:srgbClr val="112740"/>
          </a:solidFill>
          <a:ln w="2540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48920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3B30"/>
                </a:solidFill>
              </a:rPr>
              <a:t>Audit Log  (JSONL)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" y="530352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audit.jsonl  · append-only file
Machine-readable · streamable · grep-friendly
Retained indefinitely (rotate externally in prod)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59" y="4800600"/>
            <a:ext cx="5577840" cy="1627632"/>
          </a:xfrm>
          <a:prstGeom prst="rect">
            <a:avLst/>
          </a:prstGeom>
          <a:solidFill>
            <a:srgbClr val="112740"/>
          </a:solidFill>
          <a:ln w="25400">
            <a:solidFill>
              <a:srgbClr val="556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1" y="48920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B82"/>
                </a:solidFill>
              </a:rPr>
              <a:t>Structured Logging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1" y="530352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JSON-formatted log lines
Correlation ID on every log entry
Log level: INFO / WARNING / 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B82"/>
                </a:solidFill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DASHBOARD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Streamlit Web Dashboard  (frontend/app.py)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5577840" cy="2423160"/>
          </a:xfrm>
          <a:prstGeom prst="rect">
            <a:avLst/>
          </a:prstGeom>
          <a:solidFill>
            <a:srgbClr val="0A1A2E"/>
          </a:solidFill>
          <a:ln w="12700">
            <a:solidFill>
              <a:srgbClr val="00C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2FF"/>
                </a:solidFill>
              </a:rPr>
              <a:t>[ Batch Analysis Tab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Color-coded results table
22 sample transactions
One-click bulk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2461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B82"/>
                </a:solidFill>
              </a:rPr>
              <a:t>Run:  streamlit run frontend/app.py --server.port 8501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188720"/>
            <a:ext cx="5577840" cy="2423160"/>
          </a:xfrm>
          <a:prstGeom prst="rect">
            <a:avLst/>
          </a:prstGeom>
          <a:solidFill>
            <a:srgbClr val="0A1A2E"/>
          </a:solidFill>
          <a:ln w="12700">
            <a:solidFill>
              <a:srgbClr val="00C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29844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2FF"/>
                </a:solidFill>
              </a:rPr>
              <a:t>[ Risk Distribution Chart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7830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Plotly pie chart
Safe · Suspicious · High Risk
Real-time refresh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2461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B82"/>
                </a:solidFill>
              </a:rPr>
              <a:t>Run:  streamlit run frontend/app.py --server.port 8501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840480"/>
            <a:ext cx="5577840" cy="2423160"/>
          </a:xfrm>
          <a:prstGeom prst="rect">
            <a:avLst/>
          </a:prstGeom>
          <a:solidFill>
            <a:srgbClr val="0A1A2E"/>
          </a:solidFill>
          <a:ln w="12700">
            <a:solidFill>
              <a:srgbClr val="00C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95020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2FF"/>
                </a:solidFill>
              </a:rPr>
              <a:t>[ Single Transaction Form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43484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Custom input form
Plotly risk gauge
Per-field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8978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B82"/>
                </a:solidFill>
              </a:rPr>
              <a:t>Run:  streamlit run frontend/app.py --server.port 8501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840480"/>
            <a:ext cx="5577840" cy="2423160"/>
          </a:xfrm>
          <a:prstGeom prst="rect">
            <a:avLst/>
          </a:prstGeom>
          <a:solidFill>
            <a:srgbClr val="0A1A2E"/>
          </a:solidFill>
          <a:ln w="12700">
            <a:solidFill>
              <a:srgbClr val="00C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95020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2FF"/>
                </a:solidFill>
              </a:rPr>
              <a:t>[ Agent Trace Inspector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43484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Per-agent output viewer
Extended thinking visible
Correlation ID display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58978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B82"/>
                </a:solidFill>
              </a:rPr>
              <a:t>Run:  streamlit run frontend/app.py --server.port 8501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B82"/>
                </a:solidFill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TESTING &amp;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79 Tests · 3 Layers · 100% Pass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3749039" cy="5440680"/>
          </a:xfrm>
          <a:prstGeom prst="rect">
            <a:avLst/>
          </a:prstGeom>
          <a:solidFill>
            <a:srgbClr val="112740"/>
          </a:solidFill>
          <a:ln w="254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3749039" cy="530352"/>
          </a:xfrm>
          <a:prstGeom prst="rect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520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test_rules.py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69164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E096"/>
                </a:solidFill>
              </a:rPr>
              <a:t>33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2267712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EC5"/>
                </a:solidFill>
              </a:rPr>
              <a:t>Unit tests for all 4 fraud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27432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High Amount (6 boundary cases)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32004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Unusual Location (4 hotspot checks)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36576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Rapid Succession (4 velocity checks)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41148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International (5 location checks)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7" y="45720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Aggregation logic (4 tests)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7" y="50292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Risk score computation (2 tests)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79" y="1097280"/>
            <a:ext cx="3749039" cy="5440680"/>
          </a:xfrm>
          <a:prstGeom prst="rect">
            <a:avLst/>
          </a:prstGeom>
          <a:solidFill>
            <a:srgbClr val="112740"/>
          </a:solidFill>
          <a:ln w="25400">
            <a:solidFill>
              <a:srgbClr val="00C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79" y="1097280"/>
            <a:ext cx="3749039" cy="53035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7407" y="1143000"/>
            <a:ext cx="3520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test_agent.py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19" y="169164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C2FF"/>
                </a:solidFill>
              </a:rPr>
              <a:t>19 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7" y="2267712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EC5"/>
                </a:solidFill>
              </a:rPr>
              <a:t>Integration tests (mocked Claude)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7" y="27432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Full pipeline 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7" y="32004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Hook pre/post processing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8847" y="36576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Tool-use response handling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7" y="41148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Error handling &amp;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7" y="45720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Retry logic verification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847" y="50292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Correlation ID generation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75319" y="1097280"/>
            <a:ext cx="3749039" cy="5440680"/>
          </a:xfrm>
          <a:prstGeom prst="rect">
            <a:avLst/>
          </a:prstGeom>
          <a:solidFill>
            <a:srgbClr val="112740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75319" y="1097280"/>
            <a:ext cx="3749039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7" y="1143000"/>
            <a:ext cx="3520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test_shared.py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1159" y="169164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7C3AED"/>
                </a:solidFill>
              </a:rPr>
              <a:t>27 Tests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5047" y="2267712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EC5"/>
                </a:solidFill>
              </a:rPr>
              <a:t>Governance &amp; observability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76488" y="27432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Input validation (6 cases)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76488" y="32004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Compliance checks (4 cases)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6488" y="36576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Fairness detection (2 cases)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6488" y="41148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Rate limiting (3 cases)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76488" y="45720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Audit logging (3 cases)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6488" y="5029200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• Observability traces (5 cases)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6446520"/>
            <a:ext cx="11521440" cy="320040"/>
          </a:xfrm>
          <a:prstGeom prst="rect">
            <a:avLst/>
          </a:prstGeom>
          <a:solidFill>
            <a:srgbClr val="08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46480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Accuracy on 22 sample transactions:   Safe 9/9 (100%)   ·   Suspicious 9/9 (100%)   ·   High Risk 4/4 (100%)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B82"/>
                </a:solidFill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LOAD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Performance &amp; Throughput Results  (Locust)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657600" cy="1207008"/>
          </a:xfrm>
          <a:prstGeom prst="rect">
            <a:avLst/>
          </a:prstGeom>
          <a:solidFill>
            <a:srgbClr val="112740"/>
          </a:solidFill>
          <a:ln w="254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34440"/>
            <a:ext cx="3429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E096"/>
                </a:solidFill>
              </a:rPr>
              <a:t>~200 txns/sec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892807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Rules-Only Throughput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143000"/>
            <a:ext cx="3657600" cy="1207008"/>
          </a:xfrm>
          <a:prstGeom prst="rect">
            <a:avLst/>
          </a:prstGeom>
          <a:solidFill>
            <a:srgbClr val="112740"/>
          </a:solidFill>
          <a:ln w="254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07408" y="1234440"/>
            <a:ext cx="3429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E096"/>
                </a:solidFill>
              </a:rPr>
              <a:t>&lt; 5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1892807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Rules-Only Avg Latency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143000"/>
            <a:ext cx="3657600" cy="1207008"/>
          </a:xfrm>
          <a:prstGeom prst="rect">
            <a:avLst/>
          </a:prstGeom>
          <a:solidFill>
            <a:srgbClr val="112740"/>
          </a:solidFill>
          <a:ln w="25400">
            <a:solidFill>
              <a:srgbClr val="00C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9327" y="1234440"/>
            <a:ext cx="3429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C2FF"/>
                </a:solidFill>
              </a:rPr>
              <a:t>2–5 txns/sec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1892807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AI Agent Throughput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560320"/>
            <a:ext cx="3657600" cy="1207008"/>
          </a:xfrm>
          <a:prstGeom prst="rect">
            <a:avLst/>
          </a:prstGeom>
          <a:solidFill>
            <a:srgbClr val="112740"/>
          </a:solidFill>
          <a:ln w="25400">
            <a:solidFill>
              <a:srgbClr val="00C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651760"/>
            <a:ext cx="3429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C2FF"/>
                </a:solidFill>
              </a:rPr>
              <a:t>2–8 sec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3310127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AI Agent Avg Latency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2560320"/>
            <a:ext cx="3657600" cy="1207008"/>
          </a:xfrm>
          <a:prstGeom prst="rect">
            <a:avLst/>
          </a:prstGeom>
          <a:solidFill>
            <a:srgbClr val="112740"/>
          </a:solidFill>
          <a:ln w="254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7408" y="2651760"/>
            <a:ext cx="3429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E096"/>
                </a:solidFill>
              </a:rPr>
              <a:t>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3310127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Rules Error Rate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560320"/>
            <a:ext cx="3657600" cy="1207008"/>
          </a:xfrm>
          <a:prstGeom prst="rect">
            <a:avLst/>
          </a:prstGeom>
          <a:solidFill>
            <a:srgbClr val="112740"/>
          </a:solidFill>
          <a:ln w="254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9327" y="2651760"/>
            <a:ext cx="3429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B800"/>
                </a:solidFill>
              </a:rPr>
              <a:t>&lt; 1 %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310127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BEC5"/>
                </a:solidFill>
              </a:rPr>
              <a:t>AI Agent Error Rate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114800"/>
            <a:ext cx="11430000" cy="1097280"/>
          </a:xfrm>
          <a:prstGeom prst="rect">
            <a:avLst/>
          </a:prstGeom>
          <a:solidFill>
            <a:srgbClr val="002A10"/>
          </a:solidFill>
          <a:ln w="254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2062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E096"/>
                </a:solidFill>
              </a:rPr>
              <a:t>Production Recommendation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5720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 b="0">
                <a:solidFill>
                  <a:srgbClr val="B0BEC5"/>
                </a:solidFill>
              </a:rPr>
              <a:t>• Run Rules Engine on 100% of transactions  →  instant triage at 200 txns/sec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B0BEC5"/>
                </a:solidFill>
              </a:rPr>
              <a:t>• Escalate Rule-flagged transactions to AI Agent  →  deep analysis only when needed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B0BEC5"/>
                </a:solidFill>
              </a:rPr>
              <a:t>• Use async queuing (Celery / Redis) for AI Agent to handle burst load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376672"/>
            <a:ext cx="5303520" cy="749808"/>
          </a:xfrm>
          <a:prstGeom prst="rect">
            <a:avLst/>
          </a:prstGeom>
          <a:solidFill>
            <a:srgbClr val="112740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864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</a:rPr>
              <a:t>Memory:  Rules-Only &lt; 50 MB   ·   AI Agent &lt; 200 MB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89320" y="5376672"/>
            <a:ext cx="5760720" cy="749808"/>
          </a:xfrm>
          <a:prstGeom prst="rect">
            <a:avLst/>
          </a:prstGeom>
          <a:solidFill>
            <a:srgbClr val="112740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0" y="548640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Load tool:  locust -f load_tests/locustfile.py --host=http://localhost:8002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B82"/>
                </a:solidFill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"/>
            <a:ext cx="12188952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DESIGN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Key Architectural Choices &amp; Rationale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5577840" cy="1664208"/>
          </a:xfrm>
          <a:prstGeom prst="rect">
            <a:avLst/>
          </a:prstGeom>
          <a:solidFill>
            <a:srgbClr val="112740"/>
          </a:solidFill>
          <a:ln w="25400">
            <a:solidFill>
              <a:srgbClr val="00C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" y="12344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2FF"/>
                </a:solidFill>
              </a:rPr>
              <a:t>Pure Python Rules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" y="164592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No LLM dependency means instant, free, 100% testable without API key. Rules engine forms the reliable backbone; AI is reserved for nuanced edge cases.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59" y="1143000"/>
            <a:ext cx="5577840" cy="1664208"/>
          </a:xfrm>
          <a:prstGeom prst="rect">
            <a:avLst/>
          </a:prstGeom>
          <a:solidFill>
            <a:srgbClr val="112740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1" y="12344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3AED"/>
                </a:solidFill>
              </a:rPr>
              <a:t>Extended Thinking on Opus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1" y="164592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5,000 thinking tokens give the Risk Scorer deep reasoning capability. Visible chain-of-thought improves accuracy on borderline transactions.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990088"/>
            <a:ext cx="5577840" cy="1664208"/>
          </a:xfrm>
          <a:prstGeom prst="rect">
            <a:avLst/>
          </a:prstGeom>
          <a:solidFill>
            <a:srgbClr val="112740"/>
          </a:solidFill>
          <a:ln w="254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308152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E096"/>
                </a:solidFill>
              </a:rPr>
              <a:t>Separate MCP Servers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3493008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Splitting fraud data (port 8002) and geo data (port 8003) allows independent deployment, scaling, and failure isolation.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59" y="2990088"/>
            <a:ext cx="5577840" cy="1664208"/>
          </a:xfrm>
          <a:prstGeom prst="rect">
            <a:avLst/>
          </a:prstGeom>
          <a:solidFill>
            <a:srgbClr val="112740"/>
          </a:solidFill>
          <a:ln w="254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1" y="308152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800"/>
                </a:solidFill>
              </a:rPr>
              <a:t>Append-Only Audit 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1" y="3493008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JSONL format is grep-friendly, streamable, and append-only — satisfying financial audit retention requirements without a database.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837176"/>
            <a:ext cx="5577840" cy="1664208"/>
          </a:xfrm>
          <a:prstGeom prst="rect">
            <a:avLst/>
          </a:prstGeom>
          <a:solidFill>
            <a:srgbClr val="112740"/>
          </a:solidFill>
          <a:ln w="25400"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492861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3B30"/>
                </a:solidFill>
              </a:rPr>
              <a:t>Hooks as Middleware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" y="5340096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Pre/post hooks cleanly separate cross-cutting concerns (validation, rate-limiting, compliance) from business logic — OCP principle.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59" y="4837176"/>
            <a:ext cx="5577840" cy="1664208"/>
          </a:xfrm>
          <a:prstGeom prst="rect">
            <a:avLst/>
          </a:prstGeom>
          <a:solidFill>
            <a:srgbClr val="112740"/>
          </a:solidFill>
          <a:ln w="25400">
            <a:solidFill>
              <a:srgbClr val="556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1" y="492861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B82"/>
                </a:solidFill>
              </a:rPr>
              <a:t>Correlation IDs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1" y="5340096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Single UUID ties together all 4 agent calls per transaction, enabling end-to-end trace reconstruction for debugging and compliance.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B82"/>
                </a:solidFill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-274320"/>
            <a:ext cx="3657600" cy="3657600"/>
          </a:xfrm>
          <a:prstGeom prst="ellipse">
            <a:avLst/>
          </a:prstGeom>
          <a:solidFill>
            <a:srgbClr val="051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365760"/>
            <a:ext cx="2560320" cy="2560320"/>
          </a:xfrm>
          <a:prstGeom prst="ellipse">
            <a:avLst/>
          </a:prstGeom>
          <a:solidFill>
            <a:srgbClr val="004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822960"/>
            <a:ext cx="1463040" cy="1463040"/>
          </a:xfrm>
          <a:prstGeom prst="ellipse">
            <a:avLst/>
          </a:prstGeom>
          <a:solidFill>
            <a:srgbClr val="007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8229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00C2FF"/>
                </a:solidFill>
              </a:rPr>
              <a:t>&amp; Questions Welcome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3200400"/>
            <a:ext cx="5486400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BEC5"/>
                </a:solidFill>
              </a:rPr>
              <a:t>Fraud Detection AI Agent — Capstone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6B82"/>
                </a:solidFill>
              </a:rPr>
              <a:t>Powered by Anthropic Claude API · Python · Streamlit · FastMCP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572000"/>
            <a:ext cx="2468880" cy="1005840"/>
          </a:xfrm>
          <a:prstGeom prst="rect">
            <a:avLst/>
          </a:prstGeom>
          <a:solidFill>
            <a:srgbClr val="112740"/>
          </a:solidFill>
          <a:ln w="25400">
            <a:solidFill>
              <a:srgbClr val="00C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64515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2FF"/>
                </a:solidFill>
              </a:rPr>
              <a:t>4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4748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Rules · Pattern · Scorer · Coordinator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572000"/>
            <a:ext cx="2468880" cy="1005840"/>
          </a:xfrm>
          <a:prstGeom prst="rect">
            <a:avLst/>
          </a:prstGeom>
          <a:solidFill>
            <a:srgbClr val="112740"/>
          </a:solidFill>
          <a:ln w="254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464515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E096"/>
                </a:solidFill>
              </a:rPr>
              <a:t>79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504748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100 % pass 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4572000"/>
            <a:ext cx="2468880" cy="1005840"/>
          </a:xfrm>
          <a:prstGeom prst="rect">
            <a:avLst/>
          </a:prstGeom>
          <a:solidFill>
            <a:srgbClr val="112740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464515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3 MCP Servers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04748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Fraud · Geo · Orchestrator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0" y="4572000"/>
            <a:ext cx="2468880" cy="1005840"/>
          </a:xfrm>
          <a:prstGeom prst="rect">
            <a:avLst/>
          </a:prstGeom>
          <a:solidFill>
            <a:srgbClr val="112740"/>
          </a:solidFill>
          <a:ln w="254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0" y="464515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B800"/>
                </a:solidFill>
              </a:rPr>
              <a:t>Full Audit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504748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</a:rPr>
              <a:t>Append-only JSONL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760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B82"/>
                </a:solidFill>
              </a:rPr>
              <a:t>github.com / capstone-project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56B82"/>
                </a:solidFill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